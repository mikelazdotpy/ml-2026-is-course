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Промпт</c:v>
                </c:pt>
              </c:strCache>
            </c:strRef>
          </c:tx>
          <c:spPr>
            <a:solidFill>
              <a:srgbClr val="C9CE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deepseek-v4.1-flash</c:v>
                </c:pt>
                <c:pt idx="1">
                  <c:v>deepseek-v4-pro</c:v>
                </c:pt>
                <c:pt idx="2">
                  <c:v>GigaChat-3-Lightning</c:v>
                </c:pt>
                <c:pt idx="3">
                  <c:v>GigaChat-3-Pro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1.7</c:v>
                </c:pt>
                <c:pt idx="1">
                  <c:v>3.5</c:v>
                </c:pt>
                <c:pt idx="2">
                  <c:v>1.1</c:v>
                </c:pt>
                <c:pt idx="3">
                  <c:v>1.3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Видимый ответ</c:v>
                </c:pt>
              </c:strCache>
            </c:strRef>
          </c:tx>
          <c:spPr>
            <a:solidFill>
              <a:srgbClr val="1DA4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deepseek-v4.1-flash</c:v>
                </c:pt>
                <c:pt idx="1">
                  <c:v>deepseek-v4-pro</c:v>
                </c:pt>
                <c:pt idx="2">
                  <c:v>GigaChat-3-Lightning</c:v>
                </c:pt>
                <c:pt idx="3">
                  <c:v>GigaChat-3-Pro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41.9</c:v>
                </c:pt>
                <c:pt idx="1">
                  <c:v>16.8</c:v>
                </c:pt>
                <c:pt idx="2">
                  <c:v>14.3</c:v>
                </c:pt>
                <c:pt idx="3">
                  <c:v>17.9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Скрытые рассуждения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deepseek-v4.1-flash</c:v>
                </c:pt>
                <c:pt idx="1">
                  <c:v>deepseek-v4-pro</c:v>
                </c:pt>
                <c:pt idx="2">
                  <c:v>GigaChat-3-Lightning</c:v>
                </c:pt>
                <c:pt idx="3">
                  <c:v>GigaChat-3-Pro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29.9</c:v>
                </c:pt>
                <c:pt idx="1">
                  <c:v>58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b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4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Медиана</c:v>
                </c:pt>
              </c:strCache>
            </c:strRef>
          </c:tx>
          <c:spPr>
            <a:solidFill>
              <a:srgbClr val="161B2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G-3-Pro</c:v>
                </c:pt>
                <c:pt idx="1">
                  <c:v>G-3-Lightning</c:v>
                </c:pt>
                <c:pt idx="2">
                  <c:v>v4-pro</c:v>
                </c:pt>
                <c:pt idx="3">
                  <c:v>v4.1-flash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2.6</c:v>
                </c:pt>
                <c:pt idx="2">
                  <c:v>53.7</c:v>
                </c:pt>
                <c:pt idx="3">
                  <c:v>24.9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Среднее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G-3-Pro</c:v>
                </c:pt>
                <c:pt idx="1">
                  <c:v>G-3-Lightning</c:v>
                </c:pt>
                <c:pt idx="2">
                  <c:v>v4-pro</c:v>
                </c:pt>
                <c:pt idx="3">
                  <c:v>v4.1-flash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2.5</c:v>
                </c:pt>
                <c:pt idx="2">
                  <c:v>156.7</c:v>
                </c:pt>
                <c:pt idx="3">
                  <c:v>23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F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4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Среднее</c:v>
                </c:pt>
              </c:strCache>
            </c:strRef>
          </c:tx>
          <c:spPr>
            <a:solidFill>
              <a:srgbClr val="161B2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G-3-Pro</c:v>
                </c:pt>
                <c:pt idx="1">
                  <c:v>G-3-Lightning</c:v>
                </c:pt>
                <c:pt idx="2">
                  <c:v>v4-pro</c:v>
                </c:pt>
                <c:pt idx="3">
                  <c:v>v4.1-flash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482</c:v>
                </c:pt>
                <c:pt idx="1">
                  <c:v>50</c:v>
                </c:pt>
                <c:pt idx="2">
                  <c:v>72</c:v>
                </c:pt>
                <c:pt idx="3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Медиана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G-3-Pro</c:v>
                </c:pt>
                <c:pt idx="1">
                  <c:v>G-3-Lightning</c:v>
                </c:pt>
                <c:pt idx="2">
                  <c:v>v4-pro</c:v>
                </c:pt>
                <c:pt idx="3">
                  <c:v>v4.1-flash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412</c:v>
                </c:pt>
                <c:pt idx="1">
                  <c:v>51</c:v>
                </c:pt>
                <c:pt idx="2">
                  <c:v>47</c:v>
                </c:pt>
                <c:pt idx="3">
                  <c:v>50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F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4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 с · к концу слайда 0:35] Тема доклада — работа с языковыми моделями через API на примере GigaChat и DeepSeek. Сначала коротко покажу, как устроены запросы к обоим API, а потом — результаты эксперимента: сравним четыре модели по качеству, времени ответа и стоимости и разберём, какую модель под какую задачу брать. Весь код и все ответы моделей лежат по ссылке.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с · к концу слайда 1:15] Любой запрос к LLM — обычный HTTP POST: модель и список сообщений с ролями. system задаёт поведение, user — наш вопрос, assistant — прошлые ответы модели. API не хранит состояние: чтобы модель «помнила» разговор, каждый раз отправляем всю историю. В ответе, кроме текста, приходит поле usage — сколько потрачено токенов. По нему мы потом считаем стоимость.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с · к концу слайда 1:55] Доступ к GigaChat: на developers.sber.ru через Сбер ID создаём проект для физлиц и генерируем Authorization key — сразу в .env. Плюс корневой сертификат Минцифры, иначе SSLError. Ключ — не токен доступа: по протоколу OAuth он меняется на токен, который живёт 30 минут. SDK делает этот обмен сам и сам обновляет токен, так что в коде об этом думать не нужно.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 с · к концу слайда 2:30] Минимальный пример для GigaChat: если ключ лежит в .env, а сертификат в папке certs, код запускается как есть. Модель нужно указать явно, значения по умолчанию нет; список моделей возвращает get_models(). Запрос собирается из объектов ChatMessage и ChatCompletionRequest, параметры генерации — temperature и max_tokens — передаются через model_options. Текст ответа лежит в messages[0].content[0].text.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 с · к концу слайда 3:05] У DeepSeek бесплатных токенов нет, а российские карты не принимаются, поэтому токены купили у агрегатора — он даёт свой ключ и адрес API. Собственный SDK не нужен: API совместим с OpenAI, берём пакет openai и подменяем base_url. Ключ постоянный, без OAuth и сертификатов. Минус агрегатора — все запросы идут через посредника.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с · к концу слайда 3:45] Сведём отличия. Концептуально оба API одинаковы: модель плюс список сообщений. У GigaChat своя библиотека, двухшаговая авторизация и обязательный сертификат. У DeepSeek — формат OpenAI и простой постоянный ключ. Даже счётчики токенов называются по-разному. И важное отличие для дальнейшего: модели DeepSeek перед ответом скрыто «рассуждают». Эти токены не видны в тексте, но оплачиваются. Зато GigaChat удобнее с точки зрения доступа из России.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 с · к концу слайда 4:20] Теперь эксперимент. Четыре модели получили одни и те же четыре задачи, каждый промпт — пять раз, с одинаковыми temperature 0,7 и лимитом 8192 токена. Для каждого запроса записали время, токены из usage и стоимость — токены умножить на цену за миллион. Цены GigaChat 3 не опубликованы, поэтому взяли пакеты второго поколения — это допущение.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[~55 с · к концу слайда 5:15] Тарифицируются токены — кусочки слов, причём и промпт, и ответ. На графике видно, куда они уходят. У GigaChat почти всё — видимый ответ. У DeepSeek заметная часть — скрытые рассуждения: модель «думает» перед ответом, в тексте мы этого не видим, но платим. У deepseek-v4-pro это 78 процентов всех токенов ответа. В итоге на те же задачи DeepSeek тратит в 4–5 раз больше токенов, чем GigaChat. Поэтому длину ответа мы рассматриваем не как показатель качества, а как объём, который определяет цену и время.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с · к концу слайда 5:55] Время ответа. Показываю и медиану, и среднее: у deepseek-v4-pro они сильно расходятся — медиана 54 секунды, среднее 157. Среднее тянут вверх ответы по математике: около семи минут на запрос. GigaChat отвечает за единицы секунд, Lightning — быстрее всех, в среднем две с половиной секунды. DeepSeek медленнее из-за тех самых скрытых рассуждений и из-за посредника-агрегатора: его задержка входит в измеренное время.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[~55 с · к концу слайда 6:50] Стоимость в пересчёте на тысячу запросов. Самый дорогой — GigaChat-3-Pro: около 480 рублей, примерно в семь раз дороже DeepSeek, хотя токенов он тратит меньше, — дело в цене пакета. Самый дешёвый за запрос — GigaChat-3-Lightning, 50 рублей. Но дешёвый запрос ничего не стоит, если ответ неверный. Поэтому справа — цена тысячи верных ответов: стоимость делим на долю верных. Здесь выигрывает deepseek-v4.1-flash — 76 рублей. Lightning при ошибках в половине задач выходит дороже обоих DeepSeek. Напомню, что цены GigaChat 3 — допущение.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[~45 с · к концу слайда 7:35] Цена одного запроса по каждому промпту. Сверху — цена миллиона токенов, в ячейках — средняя цена запроса в копейках и сколько токенов он потратил. GigaChat-3-Pro тратит немного токенов, но из-за цены пакета один ответ по математике стоит 79 копеек. DeepSeek тратит в разы больше токенов, но токены дешёвые: самый дорогой его запрос — около 15 копеек. Самые дорогие задачи у всех — математика и литература: там самые длинные ответы.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с · к концу слайда 8:15] Отдельная находка. На математике deepseek-v4-pro во всех пяти прогонах упёрся в лимит 8192 токена: почти весь лимит ушёл на скрытые рассуждения, ответ обрывался, а в одном прогоне вообще был пустым. Мы сделали дополнительный прогон без лимита: модель думала почти десять минут и выдала полный и верный ответ. Это один прогон, поэтому цифры справа — иллюстрация, а не статистика.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с · к концу слайда 8:55] Качество оценивали по чек-листу: код — запуском на тестах, математику — по строгости определений, доказательствам и примерам, литературу — по героям и фактам сюжета. Верно — балл, неточность — половина, ошибка — ноль. Лучший итог у deepseek-v4.1-flash — 90 процентов. deepseek-v4-pro безошибочен везде, кроме математики, обрезанной лимитом. Хуже всех с фактами GigaChat-3-Lightning. Выборка небольшая, поэтому это качественная оценка, а не бенчмарк.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[~50 с · к концу слайда 9:45] Подробнее об ошибках в коде, начнём с Python. Первая — регулярное выражение только для латиницы: на русском тексте функция возвращает пустой словарь, а Lightning в том же ответе ещё и показывает «результат» с русскими словами — вывод выдуман. Вторая — знаки препинания удаляются без пробела, и слова склеиваются: «кот,кот» превращается в «коткот», даже перенос строки склеивает слова. Третья — у GigaChat-3-Pro код верный, но пример вывода в ответе не совпадает с тем, что код реально печатает.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с · к концу слайда 10:25] В C все двадцать программ отсортировали массивы правильно и без утечек памяти. Но есть два недочёта. У Lightning функция swap вызывается раньше, чем объявлена: GCC 13 выдаёт только предупреждение, а Clang 18 — уже ошибку компиляции. И у GigaChat встречается программа без проверки ввода: на отрицательное число она пишет «ошибка выделения памяти» вместо понятного сообщения. DeepSeek ввод проверяет всегда.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[~45 с · к концу слайда 11:10] Теперь ошибки в фактах и математике. Литература: Lightning пишет, что Муму Герасиму подарила барыня, хотя он сам спас щенка из реки. Математика: GigaChat-3-Pro в выкладке для биномиального распределения получает np в степени n вместо np. Lightning для геометрического распределения пишет дробь, которая на самом деле равна единице, и «доказывает» линейность, не используя совместное распределение. Всё оформлено уверенно, поэтому выкладки и факты нужно проверять.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 с · к концу слайда 11:45] Итоговая таблица «задача — модель». Дешевле и быстрее всех почти везде GigaChat-3-Lightning, но в скобках — его балл качества: на математике и литературе он почти всегда ошибается, так что экономия мнимая. Для C хватает Lightning, для Python и математики — deepseek-v4.1-flash, для литературы — deepseek-v4-pro, если можно подождать ответ.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[~50 с · к концу слайда 12:35] Итоги. Первое: работа с API у обоих провайдеров почти одинаковая, различаются авторизация и детали формата. Второе: лучший баланс качества и цены показал deepseek-v4.1-flash — 90 процентов по чек-листу и самый дешёвый верный ответ. Третье: GigaChat отвечает в разы быстрее, но облегчённая модель выдумывает факты, а старшая при ценах пакетов обходится примерно в семь раз дороже DeepSeek. Четвёртое: даже уверенно оформленные ответы нужно проверять — код запускать, факты и выкладки сверять.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st.github.com/MikelazDotPy/83595966eef51a828f6a8edf89e1400f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gist.github.com/MikelazDotPy/83595966eef51a828f6a8edf89e1400f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через API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 и DeepSeek: как отправлять запросы и какую модель выбрать по качеству, цене и скорости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292608" cy="292608"/>
          </a:xfrm>
          <a:prstGeom prst="ellipse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697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77440" y="2697480"/>
            <a:ext cx="292608" cy="292608"/>
          </a:xfrm>
          <a:prstGeom prst="ellipse">
            <a:avLst/>
          </a:prstGeom>
          <a:solidFill>
            <a:srgbClr val="4D6BFE"/>
          </a:solidFill>
          <a:ln w="12700">
            <a:solidFill>
              <a:srgbClr val="4D6B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761488" y="2697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Код, ответы моделей и данные эксперимента: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A9B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https://gist.github.com/MikelazDotPy/83595966eef51a828f6a8edf89e1400f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Сабалиров Мухаммад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устроен запрос к LLM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HTTP-запрос: отправляем модель и список сообщений, получаем JSON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код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+ SDK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57400" y="1874520"/>
            <a:ext cx="274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31720" y="14173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161B26"/>
          </a:solidFill>
          <a:ln w="12700">
            <a:solidFill>
              <a:srgbClr val="161B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3172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/chat/completions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1874520"/>
            <a:ext cx="274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06240" y="14173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текст + usage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74320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0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/chat/completions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"model"</a:t>
            </a:r>
            <a:pPr indent="0" marL="0">
              <a:buNone/>
            </a:pPr>
            <a:r>
              <a:rPr lang="en-US" sz="10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"GigaChat-2"</a:t>
            </a:r>
            <a:pPr indent="0" marL="0">
              <a:buNone/>
            </a:pPr>
            <a:r>
              <a:rPr lang="en-US" sz="10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"messages"</a:t>
            </a:r>
            <a:pPr indent="0" marL="0">
              <a:buNone/>
            </a:pPr>
            <a:r>
              <a:rPr lang="en-US" sz="10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indent="0" marL="0">
              <a:buNone/>
            </a:pPr>
            <a:r>
              <a:rPr lang="en-US" sz="10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"system"</a:t>
            </a:r>
            <a:pPr indent="0" marL="0">
              <a:buNone/>
            </a:pPr>
            <a:r>
              <a:rPr lang="en-US" sz="10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buNone/>
            </a:pPr>
            <a:r>
              <a:rPr lang="en-US" sz="10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"Отвечай кратко"</a:t>
            </a:r>
            <a:pPr indent="0" marL="0">
              <a:buNone/>
            </a:pPr>
            <a:r>
              <a:rPr lang="en-US" sz="10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indent="0" marL="0">
              <a:buNone/>
            </a:pPr>
            <a:r>
              <a:rPr lang="en-US" sz="10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indent="0" marL="0">
              <a:buNone/>
            </a:pPr>
            <a:r>
              <a:rPr lang="en-US" sz="10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buNone/>
            </a:pPr>
            <a:r>
              <a:rPr lang="en-US" sz="10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"Привет!"</a:t>
            </a:r>
            <a:pPr indent="0" marL="0">
              <a:buNone/>
            </a:pPr>
            <a:r>
              <a:rPr lang="en-US" sz="10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 сообщений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26480" y="1865376"/>
            <a:ext cx="182880" cy="1828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084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задаёт поведение и стиль модели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2523744"/>
            <a:ext cx="182880" cy="182880"/>
          </a:xfrm>
          <a:prstGeom prst="ellipse">
            <a:avLst/>
          </a:prstGeom>
          <a:solidFill>
            <a:srgbClr val="4D6BFE"/>
          </a:solidFill>
          <a:ln w="12700">
            <a:solidFill>
              <a:srgbClr val="4D6B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2487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или задача пользователя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3182112"/>
            <a:ext cx="182880" cy="182880"/>
          </a:xfrm>
          <a:prstGeom prst="ellipse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31455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предыдущие ответы модели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388620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EEF1FF"/>
          </a:solidFill>
          <a:ln w="12700">
            <a:solidFill>
              <a:srgbClr val="EEF1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3931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не хранит диалог: чтобы продолжить чат, всю историю отправляют заново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GigaChat: ключ и токен доступа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физлиц есть бесплатный лимит токенов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" cy="384048"/>
          </a:xfrm>
          <a:prstGeom prst="ellipse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07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819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developers.sber.ru → войти через Сбер ID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30552"/>
            <a:ext cx="384048" cy="384048"/>
          </a:xfrm>
          <a:prstGeom prst="ellipse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1122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проект GigaChat API для физлиц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35224"/>
            <a:ext cx="384048" cy="384048"/>
          </a:xfrm>
          <a:prstGeom prst="ellipse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916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1912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Сгенерировать Authorization key (показывается один раз) и сохранить в .env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39896"/>
            <a:ext cx="384048" cy="384048"/>
          </a:xfrm>
          <a:prstGeom prst="ellipse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721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Сертификат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9959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Скачать корневой сертификат Минцифры, иначе SSLError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325880"/>
            <a:ext cx="3931920" cy="585216"/>
          </a:xfrm>
          <a:prstGeom prst="roundRect">
            <a:avLst>
              <a:gd name="adj" fmla="val 12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1380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 key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16367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постоянный, из кабинета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1965960"/>
            <a:ext cx="0" cy="42062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54880" y="2423160"/>
            <a:ext cx="3931920" cy="585216"/>
          </a:xfrm>
          <a:prstGeom prst="roundRect">
            <a:avLst>
              <a:gd name="adj" fmla="val 12500"/>
            </a:avLst>
          </a:prstGeom>
          <a:solidFill>
            <a:srgbClr val="161B26"/>
          </a:solidFill>
          <a:ln w="12700">
            <a:solidFill>
              <a:srgbClr val="161B2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37760" y="24780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/api/v2/oauth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27340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обмен по OAuth — SDK делает его сам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20840" y="3063240"/>
            <a:ext cx="0" cy="42062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754880" y="3520440"/>
            <a:ext cx="3931920" cy="585216"/>
          </a:xfrm>
          <a:prstGeom prst="roundRect">
            <a:avLst>
              <a:gd name="adj" fmla="val 12500"/>
            </a:avLst>
          </a:prstGeom>
          <a:solidFill>
            <a:srgbClr val="E8F7EF"/>
          </a:solidFill>
          <a:ln w="12700">
            <a:solidFill>
              <a:srgbClr val="E8F7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37760" y="35753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access_token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38313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живёт 30 минут, SDK сам его обновляет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GigaChat: первый запрос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gigachat python-dotenv — код можно запускать как есть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dotenv </a:t>
            </a:r>
            <a:pPr indent="0" marL="0">
              <a:buNone/>
            </a:pPr>
            <a:r>
              <a:rPr lang="en-US" sz="9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load_dotenv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gigachat </a:t>
            </a:r>
            <a:pPr indent="0" marL="0">
              <a:buNone/>
            </a:pPr>
            <a:r>
              <a:rPr lang="en-US" sz="9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GigaChat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gigachat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 </a:t>
            </a:r>
            <a:pPr indent="0" marL="0">
              <a:buNone/>
            </a:pPr>
            <a:r>
              <a:rPr lang="en-US" sz="9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ChatCompletionRequest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ChatMessage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expanduser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"~/certs/russian_trusted_root_ca.crt"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GigaChat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credentials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getenv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"GIGACHAT_AUTH_KEY"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scope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"GIGACHAT_API_PERS"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7F8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тариф для физлиц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ca_bundle_file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 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ChatCompletionRequest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"GigaChat-2"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ChatMessage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(role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content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"Привет, как дела?"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(req)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messages[</a:t>
            </a:r>
            <a:pPr indent="0" marL="0"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content[</a:t>
            </a:r>
            <a:pPr indent="0" marL="0"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(answer)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172200" y="1325880"/>
            <a:ext cx="182880" cy="182880"/>
          </a:xfrm>
          <a:prstGeom prst="ellipse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64808" y="128016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обязательна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64808" y="155448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по умолчанию нет. Список: client.get_models()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423160"/>
            <a:ext cx="182880" cy="182880"/>
          </a:xfrm>
          <a:prstGeom prst="ellipse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4808" y="237744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Объекты, а не словари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265176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ChatMessage, ChatCompletionRequest; параметры — в model_options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3520440"/>
            <a:ext cx="182880" cy="182880"/>
          </a:xfrm>
          <a:prstGeom prst="ellipse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347472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374904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«Привет! Всё отлично, заряжен на интересную беседу. А у тебя как дела?»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DeepSeek: доступ и первый запрос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совместим с OpenAI, поэтому используем пакет openai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dotenv </a:t>
            </a:r>
            <a:pPr indent="0" marL="0">
              <a:buNone/>
            </a:pP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load_dotenv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openai </a:t>
            </a:r>
            <a:pPr indent="0" marL="0">
              <a:buNone/>
            </a:pP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api_key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getenv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"DEEPSEEK_API_KEY"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7F8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напрямую у DeepSeek: https://api.deepseek.com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base_url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"https://ai.starimg.ru/v1"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 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completions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"deepseek-v4.1-flash"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</a:t>
            </a:r>
            <a:pPr indent="0" marL="0">
              <a:buNone/>
            </a:pPr>
            <a:r>
              <a:rPr lang="en-US" sz="9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"Привет, как дела?"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(resp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choices[</a:t>
            </a:r>
            <a:pPr indent="0" marL="0">
              <a:buNone/>
            </a:pPr>
            <a:r>
              <a:rPr lang="en-US" sz="9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buNone/>
            </a:pPr>
            <a:r>
              <a:rPr lang="en-US" sz="9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72200" y="1325880"/>
            <a:ext cx="182880" cy="182880"/>
          </a:xfrm>
          <a:prstGeom prst="ellipse">
            <a:avLst/>
          </a:prstGeom>
          <a:solidFill>
            <a:srgbClr val="4D6BFE"/>
          </a:solidFill>
          <a:ln w="12700">
            <a:solidFill>
              <a:srgbClr val="4D6B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64808" y="128016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64808" y="155448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Бесплатных токенов нет, карты РФ не принимаются. Токены купили у агрегатора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423160"/>
            <a:ext cx="182880" cy="182880"/>
          </a:xfrm>
          <a:prstGeom prst="ellipse">
            <a:avLst/>
          </a:prstGeom>
          <a:solidFill>
            <a:srgbClr val="4D6BFE"/>
          </a:solidFill>
          <a:ln w="12700">
            <a:solidFill>
              <a:srgbClr val="4D6B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4808" y="237744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 base_url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265176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Меняются только base_url, api_key и model. Запросы идут через посредника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3520440"/>
            <a:ext cx="182880" cy="182880"/>
          </a:xfrm>
          <a:prstGeom prst="ellipse">
            <a:avLst/>
          </a:prstGeom>
          <a:solidFill>
            <a:srgbClr val="4D6BFE"/>
          </a:solidFill>
          <a:ln w="12700">
            <a:solidFill>
              <a:srgbClr val="4D6B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347472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374904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«Привет! У меня всё отлично — готов помочь с чем угодно. А как у тебя дела?»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GigaChat и DeepSeek: отличия в работе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одна и та же, различаются детали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46120"/>
                <a:gridCol w="32461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GigaChat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A4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6BF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Библиотека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gigachat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openai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Авторизация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Ключ → OAuth-токен на 30 минут + сертификат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Постоянный API-ключ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Сообщения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ChatMessage(role=..., content=...)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{"role": ..., "content": ...}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 ответа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.messages[0].content[0].text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.choices[0].message.content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Токены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usage.input_tokens / output_tokens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usage.prompt_tokens / completion_tokens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Рассуждения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наших запросах не было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Скрытые reasoning-токены, тоже оплачиваются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Доступ из РФ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Бесплатный лимит, оплата картами РФ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Через посредников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Эксперимент: одинаковые условия для всех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модели × 4 задачи × 5 прогонов = 80 запросов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" cy="182880"/>
          </a:xfrm>
          <a:prstGeom prst="ellipse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32588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600200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(подсчёт слов), C (сортировка, malloc/free), матожидание, герои «Муму»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82880" cy="182880"/>
          </a:xfrm>
          <a:prstGeom prst="ellipse">
            <a:avLst/>
          </a:prstGeom>
          <a:solidFill>
            <a:srgbClr val="4D6BFE"/>
          </a:solidFill>
          <a:ln w="12700">
            <a:solidFill>
              <a:srgbClr val="4D6B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33172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606040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0,7 и max_tokens = 8192 — одинаковые для всех моделей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82880" cy="182880"/>
          </a:xfrm>
          <a:prstGeom prst="ellipse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3375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611880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до полного ответа, токены из usage, стоимость, качество по чек-листу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Цена, ₽ за 1M токенов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737360"/>
          <a:ext cx="3657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GigaChat-3-Pro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GigaChat-3-Lightning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deepseek-v4-pro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deepseek-v4.1-flash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029200" y="3474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запроса = total_tokens × цена. Вход и выход тарифицируются одинаково. DeepSeek: 92,11 ₽ за 5M у агрегатора.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Цены GigaChat 3 не опубликованы — взяты пакеты GigaChat 2 Pro и Lite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Токены: куда они уходят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по 20 запросам на модель, тыс. токенов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126480" y="1325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ответа deepseek-v4-pro — скрытые рассуждения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6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×4–5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токенов тратит DeepSeek, чем GigaChat, на те же задачи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A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тыс.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токенов на 20 ответов у GigaChat-3-Lightning — самые короткие ответы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ответа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отправки запроса до полного ответа, секунды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21208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Медиана по задачам, с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645920"/>
          <a:ext cx="34747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"/>
                <a:gridCol w="685800"/>
                <a:gridCol w="640080"/>
                <a:gridCol w="6858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G-Light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v4-pro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Матем.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Литер.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21208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 отвечает за секунды: 128–283 токена/с. deepseek-v4-pro — 24 токена/с, на математике ответ идёт ~7 минут.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Стоимость: 1000 запросов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Условная стоимость по ценам пакетов, ₽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21208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1000 верных ответов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12080" y="1691640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21808" y="1783080"/>
            <a:ext cx="146304" cy="146304"/>
          </a:xfrm>
          <a:prstGeom prst="ellipse">
            <a:avLst/>
          </a:prstGeom>
          <a:solidFill>
            <a:srgbClr val="4D6BFE"/>
          </a:solidFill>
          <a:ln w="12700">
            <a:solidFill>
              <a:srgbClr val="4D6BF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59552" y="16916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deepseek-v4.1-flash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16916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₽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12080" y="2093976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21808" y="2185416"/>
            <a:ext cx="146304" cy="146304"/>
          </a:xfrm>
          <a:prstGeom prst="ellipse">
            <a:avLst/>
          </a:prstGeom>
          <a:solidFill>
            <a:srgbClr val="4D6BFE"/>
          </a:solidFill>
          <a:ln w="12700">
            <a:solidFill>
              <a:srgbClr val="4D6BF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59552" y="209397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deepseek-v4-pro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20939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₽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12080" y="2496312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21808" y="2587752"/>
            <a:ext cx="146304" cy="146304"/>
          </a:xfrm>
          <a:prstGeom prst="ellipse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59552" y="24963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GigaChat-3-Lightning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24963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 ₽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212080" y="2898648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21808" y="2990088"/>
            <a:ext cx="146304" cy="146304"/>
          </a:xfrm>
          <a:prstGeom prst="ellipse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59552" y="28986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GigaChat-3-Pro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7680960" y="28986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742 ₽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3383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стоимость 1000 запросов / доля верных ответов по чек-листу. Lightning дешевле всех за запрос, но из-за ошибок верный ответ у него дороже, чем у DeepSeek.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одного запроса по каждому промпту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по 5 прогонам: копейки за запрос и токены на запрос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GigaChat-3-Pro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A4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GigaChat-3-Lightning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A4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deepseek-v4-pro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6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deepseek-v4.1-flash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6B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 за 1M токенов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₽*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 ₽*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18,42 ₽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18,42 ₽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коп.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ток.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 коп.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373 ток.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 коп.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1 598 ток.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 коп.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1 130 ток.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 коп.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775 ток.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 коп.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785 ток.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 коп.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1 536 ток.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 коп.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1 635 ток.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Математика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 коп.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1 581 ток.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 коп.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1 069 ток.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коп.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8 370 ток.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коп.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6 513 ток.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Литература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коп.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1 002 ток.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 коп.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852 ток.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 коп.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4 163 ток.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коп.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5 478 ток.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запроса = токены × цена за 1M. * Цены GigaChat 3 не опубликованы — взяты пакеты GigaChat 2 Pro и Lite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deepseek-v4-pro и лимит токенов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Математика: модель расходует лимит на рассуждения и не успевает ответить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FDEDE8"/>
          </a:solidFill>
          <a:ln w="12700">
            <a:solidFill>
              <a:srgbClr val="FDED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max_tokens = 8192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5 прогонов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из 5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874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ответов обрезаны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146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с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514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среднем, почти 7 минут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1546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7 485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8192 токенов в среднем — рассуждения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794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из 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3794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вообще без текста ответа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E8F7EF"/>
          </a:solidFill>
          <a:ln w="12700">
            <a:solidFill>
              <a:srgbClr val="E8F7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389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A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лимита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1 прогон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8745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1874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ответ, всё верно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5146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571 с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514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10 минут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1546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3 361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4590 токенов — рассуждения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794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0,09 ₽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794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запрос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ответов по чек-листу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Баллы из 5 прогонов: ✓ = 1, неточность = 0,5, ошибка = 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61188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98348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Математика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Литература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58191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46504"/>
            <a:ext cx="146304" cy="146304"/>
          </a:xfrm>
          <a:prstGeom prst="ellipse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158191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GigaChat-3-Pro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15819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15819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✗ ~ ✓ ~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15819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A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42232" y="15819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✓ ✓ ✓ ✓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15819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513832" y="15819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~ ~ ~ ✓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15819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85432" y="158191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✗ ~ ✓ ✓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15819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13055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295144"/>
            <a:ext cx="146304" cy="146304"/>
          </a:xfrm>
          <a:prstGeom prst="ellipse">
            <a:avLst/>
          </a:prstGeom>
          <a:solidFill>
            <a:srgbClr val="8FD9B1"/>
          </a:solidFill>
          <a:ln w="12700">
            <a:solidFill>
              <a:srgbClr val="8FD9B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213055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GigaChat-3-Lightning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240280" y="213055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770632" y="213055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~ ~ ~ ✗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611880" y="213055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A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142232" y="213055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✓ ~ ✓ ✓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983480" y="213055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513832" y="213055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✗ ✗ ✗ ✗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213055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885432" y="213055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✗ ✗ ✗ ✗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726680" y="213055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267919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2843784"/>
            <a:ext cx="146304" cy="146304"/>
          </a:xfrm>
          <a:prstGeom prst="ellipse">
            <a:avLst/>
          </a:prstGeom>
          <a:solidFill>
            <a:srgbClr val="4D6BFE"/>
          </a:solidFill>
          <a:ln w="12700">
            <a:solidFill>
              <a:srgbClr val="4D6BF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" y="267919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deepseek-v4-pro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2240280" y="26791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A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2770632" y="267919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✓ ✓ ✓ ✓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3611880" y="26791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A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4142232" y="267919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✓ ✓ ✓ ✓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4983480" y="26791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0*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5513832" y="267919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обрезан лимитом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6355080" y="26791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A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885432" y="267919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✓ ✓ ✓ ✓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726680" y="26791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57200" y="322783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3392424"/>
            <a:ext cx="146304" cy="146304"/>
          </a:xfrm>
          <a:prstGeom prst="ellipse">
            <a:avLst/>
          </a:prstGeom>
          <a:solidFill>
            <a:srgbClr val="A9B8FF"/>
          </a:solidFill>
          <a:ln w="12700">
            <a:solidFill>
              <a:srgbClr val="A9B8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49808" y="322783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deepseek-v4.1-flash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2240280" y="322783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A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2770632" y="322783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✓ ✓ ✓ ✓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3611880" y="322783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A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4142232" y="322783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✓ ✓ ✓ ✓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4983480" y="322783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A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5513832" y="322783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✓ ~ ✓ ✓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6355080" y="322783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6885432" y="322783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✗ ~ ✓ ✓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7726680" y="322783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3794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без лимита токенов — ответ верный (1 прогон)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4041648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40080" y="404164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Проверка: 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— запуск на 5 тестах, gcc -Wall, valgrind, сверка примера с реальным выводом; математика — условия сходимости, доказательства, примеры; литература — герои и факты сюжета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Ограничения: 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промпта по 5 прогонов, одна temperature — качественная оценка, а не бенчмарк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Ошибки в коде: Python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запускали на 5 тестах. У DeepSeek ошибок не нашли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08176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A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GigaChat: Pro и Lightning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642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латиница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057400"/>
            <a:ext cx="2386584" cy="566928"/>
          </a:xfrm>
          <a:prstGeom prst="roundRect">
            <a:avLst>
              <a:gd name="adj" fmla="val 12903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19456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</a:t>
            </a:r>
            <a:pPr indent="0" marL="0">
              <a:buNone/>
            </a:pPr>
            <a:r>
              <a:rPr lang="en-US" sz="8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pPr indent="0" marL="0">
              <a:buNone/>
            </a:pPr>
            <a:r>
              <a:rPr lang="en-US" sz="8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</a:t>
            </a:r>
            <a:pPr indent="0" marL="0">
              <a:buNone/>
            </a:pPr>
            <a:r>
              <a:rPr lang="en-US" sz="8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"[^a-zA-Z0-9\s]"</a:t>
            </a:r>
            <a:pPr indent="0" marL="0">
              <a:buNone/>
            </a:pPr>
            <a:r>
              <a:rPr lang="en-US" sz="8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8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8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</a:t>
            </a:r>
            <a:pPr indent="0" marL="0">
              <a:buNone/>
            </a:pPr>
            <a:r>
              <a:rPr lang="en-US" sz="8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</a:t>
            </a:r>
            <a:pPr indent="0" marL="0">
              <a:buNone/>
            </a:pPr>
            <a:r>
              <a:rPr lang="en-US" sz="8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743200"/>
            <a:ext cx="2276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"Привет, мир! Привет."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Ожидали: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{"привет": 2, "мир": 1}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Получили: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36118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Lightning регулярка [a-zA-Z]+ — итог тот же, а в ответе ещё и выдуманный «вывод»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1408176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A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GigaChat-3-Lightning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410712" y="16642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 склеиваются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55848" y="2057400"/>
            <a:ext cx="2386584" cy="566928"/>
          </a:xfrm>
          <a:prstGeom prst="roundRect">
            <a:avLst>
              <a:gd name="adj" fmla="val 12903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38728" y="219456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</a:t>
            </a:r>
            <a:pPr indent="0" marL="0">
              <a:buNone/>
            </a:pPr>
            <a:r>
              <a:rPr lang="en-US" sz="8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pPr indent="0" marL="0">
              <a:buNone/>
            </a:pPr>
            <a:r>
              <a:rPr lang="en-US" sz="8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</a:t>
            </a:r>
            <a:pPr indent="0" marL="0">
              <a:buNone/>
            </a:pPr>
            <a:r>
              <a:rPr lang="en-US" sz="8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"[^a-zа-яё ]"</a:t>
            </a:r>
            <a:pPr indent="0" marL="0">
              <a:buNone/>
            </a:pPr>
            <a:r>
              <a:rPr lang="en-US" sz="8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8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8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</a:t>
            </a:r>
            <a:pPr indent="0" marL="0">
              <a:buNone/>
            </a:pPr>
            <a:r>
              <a:rPr lang="en-US" sz="8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</a:t>
            </a:r>
            <a:pPr indent="0" marL="0">
              <a:buNone/>
            </a:pPr>
            <a:r>
              <a:rPr lang="en-US" sz="85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410712" y="2743200"/>
            <a:ext cx="2276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"Кот,кот"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Получили: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{"коткот": 1}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"Раз\nдва"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Получили: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{"раздва": 1}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10712" y="36118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Знаки удаляются без замены на пробел, перенос строки тоже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2801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99632" y="1408176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A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GigaChat-3-Pro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6642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вывода не тот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44768" y="2057400"/>
            <a:ext cx="2386584" cy="566928"/>
          </a:xfrm>
          <a:prstGeom prst="roundRect">
            <a:avLst>
              <a:gd name="adj" fmla="val 12903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27648" y="219456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вход: "... Привет-привет,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8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мир! Мир-мир."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199632" y="2743200"/>
            <a:ext cx="2276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ответе: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{..., "мир": 2}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{..., "мир": 3}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99632" y="36118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верная, но результат примера модель написала «на глаз»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Ошибки в коде: C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Компиляция gcc -Wall и clang, 5 тестовых вводов, проверка утечек через valgrind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081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A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GigaChat-3-Lightning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вызвана до объявления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057400"/>
            <a:ext cx="3803904" cy="914400"/>
          </a:xfrm>
          <a:prstGeom prst="roundRect">
            <a:avLst>
              <a:gd name="adj" fmla="val 8000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194560"/>
            <a:ext cx="3438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bubble_sort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*arr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size)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(&amp;arr[j]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&amp;arr[j + </a:t>
            </a:r>
            <a:pPr indent="0" marL="0">
              <a:buNone/>
            </a:pPr>
            <a:r>
              <a:rPr lang="en-US" sz="9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 // не объявлена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*a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*b) { 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632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13: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предупреждение, программа собирается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Clang 18, GCC 14: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компиляции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081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A4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GigaChat-3-Pro, GigaChat-3-Lightning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проверки ввода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73168" y="2057400"/>
            <a:ext cx="3803904" cy="658368"/>
          </a:xfrm>
          <a:prstGeom prst="roundRect">
            <a:avLst>
              <a:gd name="adj" fmla="val 11111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56048" y="2194560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&amp;n);    // результат не проверяется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*arr </a:t>
            </a:r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malloc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 * </a:t>
            </a:r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</a:t>
            </a:r>
            <a:pPr indent="0" marL="0">
              <a:buNone/>
            </a:pPr>
            <a:r>
              <a:rPr lang="en-US" sz="900" dirty="0">
                <a:solidFill>
                  <a:srgbClr val="E6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(int));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80720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«-3»: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«Ошибка выделения памяти» вместо понятного сообщения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 ввод — «Некорректное значение n»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61B26"/>
          </a:solidFill>
          <a:ln w="12700">
            <a:solidFill>
              <a:srgbClr val="161B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114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этом все 20 программ на C сортируют правильно на 5 тестах, valgrind не нашёл утечек памяти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Ошибки в фактах и математике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звучат уверенно, но их нужно проверять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GigaChat-3-Lightning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63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Литература: сюжет «Муму»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Муму — «маленькая собачка, подаренная Герасиму барыней»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деле Герасим сам спас щенка из реки, а барыня потом велела от собаки избавиться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25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GigaChat-3-Pro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63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Биномиальное распределение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«np(1 − p + p)^(n−1) = np^n»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3500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(1 − p + p)^(n−1) = 1, значит результат np, а не np^n. Итоговый ответ np модель написала верно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35808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27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GigaChat-3-Lightning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Геометрическое распределение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758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«E[X] = p / (1 − (1 − p)) = 1/p»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1513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 дробь равна p / p = 1. Верно: E[X] = p / (1 − (1 − p))² = 1/p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035808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127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GigaChat-3-Lightning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Линейность матожидания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6758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«E[X + Y] = Σ(x_i + y_i)·p_i = Σx_i·p_i + Σy_i·p_i»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41513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и Y принимают свои значения с разными вероятностями — нужна совместная вероятность P(X = x_i, Y = y_j)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Какую модель брать под задачу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— баллы из 5; цена — ₽ за 1000 запросов (среднее); скорость — медиана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874520"/>
                <a:gridCol w="1737360"/>
                <a:gridCol w="1783080"/>
                <a:gridCol w="1600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Задача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Лучшая по качеству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Дешевле всех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Быстрее всех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брать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v4-pro, v4.1-flash ·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v4.1-flash · 21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G-Lightning · 1,1 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deepseek-v4.1-flash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 модели · 4,5–5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v4-pro · 28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G-Lightning · 2,4 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GigaChat-3-Lightning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Математика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v4.1-flash · 4,5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G-Lightning · 69 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G-Lightning · 3,5 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deepseek-v4.1-flash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Литература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v4-pro ·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G-Lightning · 55 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G-Lightning · 2,6 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deepseek-v4-pro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Красным — балл качества у самой дешёвой или быстрой модели. Выигрыш в цене и скорости у GigaChat-3-Lightning оправдан только там, где он не ошибается — в коде на C.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232A38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36192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4447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с API почти одинаковая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0195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+ сообщения с ролями. GigaChat: OAuth-токен на 30 минут и сертификат. DeepSeek: формат OpenAI.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232A38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536192"/>
            <a:ext cx="182880" cy="182880"/>
          </a:xfrm>
          <a:prstGeom prst="ellipse">
            <a:avLst/>
          </a:prstGeom>
          <a:solidFill>
            <a:srgbClr val="A9B8FF"/>
          </a:solidFill>
          <a:ln w="12700">
            <a:solidFill>
              <a:srgbClr val="A9B8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0" y="14447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Лучший баланс: v4.1-flash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0195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по чек-листу и самый дешёвый верный ответ: 76 ₽ за 1000. v4-pro лучше всех в литературе, но медленный.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232A38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227832"/>
            <a:ext cx="182880" cy="182880"/>
          </a:xfrm>
          <a:prstGeom prst="ellipse">
            <a:avLst/>
          </a:prstGeom>
          <a:solidFill>
            <a:srgbClr val="8FD9B1"/>
          </a:solidFill>
          <a:ln w="12700">
            <a:solidFill>
              <a:srgbClr val="8FD9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1363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GigaChat быстрее, но ошибается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59359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отвечает за 2–3 с, но выдумывает факты. Pro в 7 раз дороже DeepSeek при цене пакета.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232A38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3227832"/>
            <a:ext cx="182880" cy="1828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31363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Ответы нужно проверять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59359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Уверенный тон не гарантирует правильность: код — запускать, факты и выкладки — сверять.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и данные: </a:t>
            </a:r>
            <a:pPr indent="0" marL="0">
              <a:buNone/>
            </a:pPr>
            <a:r>
              <a:rPr lang="en-US" sz="1100" u="sng" dirty="0">
                <a:solidFill>
                  <a:srgbClr val="A9B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https://gist.github.com/MikelazDotPy/83595966eef51a828f6a8edf89e1400f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через API: GigaChat и DeepSeek</dc:title>
  <dc:subject>PptxGenJS Presentation</dc:subject>
  <dc:creator>PptxGenJS</dc:creator>
  <cp:lastModifiedBy>PptxGenJS</cp:lastModifiedBy>
  <cp:revision>1</cp:revision>
  <dcterms:created xsi:type="dcterms:W3CDTF">2026-09-24T05:38:59Z</dcterms:created>
  <dcterms:modified xsi:type="dcterms:W3CDTF">2026-09-24T05:38:59Z</dcterms:modified>
</cp:coreProperties>
</file>